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3B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823960" y="566928"/>
            <a:ext cx="274320" cy="274320"/>
          </a:xfrm>
          <a:prstGeom prst="ellipse">
            <a:avLst/>
          </a:prstGeom>
          <a:solidFill>
            <a:srgbClr val="2BA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262872" y="1709928"/>
            <a:ext cx="274320" cy="274320"/>
          </a:xfrm>
          <a:prstGeom prst="ellipse">
            <a:avLst/>
          </a:prstGeom>
          <a:solidFill>
            <a:srgbClr val="2BA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823960" y="2852928"/>
            <a:ext cx="274320" cy="274320"/>
          </a:xfrm>
          <a:prstGeom prst="ellipse">
            <a:avLst/>
          </a:prstGeom>
          <a:solidFill>
            <a:srgbClr val="2BA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262872" y="3995928"/>
            <a:ext cx="274320" cy="274320"/>
          </a:xfrm>
          <a:prstGeom prst="ellipse">
            <a:avLst/>
          </a:prstGeom>
          <a:solidFill>
            <a:srgbClr val="2BA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823960" y="5138928"/>
            <a:ext cx="274320" cy="274320"/>
          </a:xfrm>
          <a:prstGeom prst="ellipse">
            <a:avLst/>
          </a:prstGeom>
          <a:solidFill>
            <a:srgbClr val="2BA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16568" y="566928"/>
            <a:ext cx="274320" cy="274320"/>
          </a:xfrm>
          <a:prstGeom prst="ellipse">
            <a:avLst/>
          </a:prstGeom>
          <a:solidFill>
            <a:srgbClr val="428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555480" y="1709928"/>
            <a:ext cx="274320" cy="274320"/>
          </a:xfrm>
          <a:prstGeom prst="ellipse">
            <a:avLst/>
          </a:prstGeom>
          <a:solidFill>
            <a:srgbClr val="428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16568" y="2852928"/>
            <a:ext cx="274320" cy="274320"/>
          </a:xfrm>
          <a:prstGeom prst="ellipse">
            <a:avLst/>
          </a:prstGeom>
          <a:solidFill>
            <a:srgbClr val="428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555480" y="3995928"/>
            <a:ext cx="274320" cy="274320"/>
          </a:xfrm>
          <a:prstGeom prst="ellipse">
            <a:avLst/>
          </a:prstGeom>
          <a:solidFill>
            <a:srgbClr val="428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116568" y="5138928"/>
            <a:ext cx="274320" cy="274320"/>
          </a:xfrm>
          <a:prstGeom prst="ellipse">
            <a:avLst/>
          </a:prstGeom>
          <a:solidFill>
            <a:srgbClr val="428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409176" y="566928"/>
            <a:ext cx="274320" cy="274320"/>
          </a:xfrm>
          <a:prstGeom prst="ellipse">
            <a:avLst/>
          </a:prstGeom>
          <a:solidFill>
            <a:srgbClr val="8C6B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848088" y="1709928"/>
            <a:ext cx="274320" cy="274320"/>
          </a:xfrm>
          <a:prstGeom prst="ellipse">
            <a:avLst/>
          </a:prstGeom>
          <a:solidFill>
            <a:srgbClr val="8C6B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409176" y="2852928"/>
            <a:ext cx="274320" cy="274320"/>
          </a:xfrm>
          <a:prstGeom prst="ellipse">
            <a:avLst/>
          </a:prstGeom>
          <a:solidFill>
            <a:srgbClr val="8C6B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848088" y="3995928"/>
            <a:ext cx="274320" cy="274320"/>
          </a:xfrm>
          <a:prstGeom prst="ellipse">
            <a:avLst/>
          </a:prstGeom>
          <a:solidFill>
            <a:srgbClr val="8C6B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409176" y="5138928"/>
            <a:ext cx="274320" cy="274320"/>
          </a:xfrm>
          <a:prstGeom prst="ellipse">
            <a:avLst/>
          </a:prstGeom>
          <a:solidFill>
            <a:srgbClr val="8C6B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658368"/>
            <a:ext cx="292608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BAE9B"/>
                </a:solidFill>
                <a:latin typeface="Arial"/>
              </a:rPr>
              <a:t>BIOVAULT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1481328"/>
            <a:ext cx="7223760" cy="7498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Arial"/>
              </a:rPr>
              <a:t>BioVault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2359152"/>
            <a:ext cx="7772400" cy="5303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500" b="0">
                <a:solidFill>
                  <a:srgbClr val="CDE3E8"/>
                </a:solidFill>
                <a:latin typeface="Arial"/>
              </a:rPr>
              <a:t>Biobank &amp; Biospecimen Management System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9808" y="3246120"/>
            <a:ext cx="1051560" cy="73152"/>
          </a:xfrm>
          <a:prstGeom prst="rect">
            <a:avLst/>
          </a:prstGeom>
          <a:solidFill>
            <a:srgbClr val="2BA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3529584"/>
            <a:ext cx="7406640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A9CAD1"/>
                </a:solidFill>
                <a:latin typeface="Arial"/>
              </a:rPr>
              <a:t>Fundamentals of Databases • PostgreSQL 16 • Complete + Bonus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4892040"/>
            <a:ext cx="3657600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rial"/>
              </a:rPr>
              <a:t>[REPLACE WITH STUDENT NAME]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5285232"/>
            <a:ext cx="36576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A9CAD1"/>
                </a:solidFill>
                <a:latin typeface="Arial"/>
              </a:rPr>
              <a:t>[REPLACE WITH STUDENT ID]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18520" y="6510528"/>
            <a:ext cx="5486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8AB2BB"/>
                </a:solidFill>
                <a:latin typeface="Arial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BA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93192"/>
            <a:ext cx="1069848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BAE9B"/>
                </a:solidFill>
                <a:latin typeface="Arial"/>
              </a:rPr>
              <a:t>WHY A SPREADSHEET IS NOT ENOUGH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881360" cy="5852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23B4A"/>
                </a:solidFill>
                <a:latin typeface="Arial"/>
              </a:rPr>
              <a:t>The database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28016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07982"/>
                </a:solidFill>
                <a:latin typeface="Arial"/>
              </a:rPr>
              <a:t>BioVault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10528"/>
            <a:ext cx="50292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607982"/>
                </a:solidFill>
                <a:latin typeface="Arial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64208"/>
            <a:ext cx="5138928" cy="4343400"/>
          </a:xfrm>
          <a:prstGeom prst="rect">
            <a:avLst/>
          </a:prstGeom>
          <a:noFill/>
        </p:spPr>
        <p:txBody>
          <a:bodyPr wrap="square" lIns="0" rIns="54864">
            <a:spAutoFit/>
          </a:bodyPr>
          <a:lstStyle/>
          <a:p>
            <a:pPr>
              <a:spcAft>
                <a:spcPts val="2000"/>
              </a:spcAft>
              <a:defRPr sz="2100" b="1">
                <a:solidFill>
                  <a:srgbClr val="18323B"/>
                </a:solidFill>
                <a:latin typeface="Arial"/>
              </a:defRPr>
            </a:pPr>
            <a:r>
              <a:t>•  One donor → many consents and collections</a:t>
            </a:r>
          </a:p>
          <a:p>
            <a:pPr>
              <a:spcAft>
                <a:spcPts val="2000"/>
              </a:spcAft>
              <a:defRPr sz="2100" b="0">
                <a:solidFill>
                  <a:srgbClr val="18323B"/>
                </a:solidFill>
                <a:latin typeface="Arial"/>
              </a:defRPr>
            </a:pPr>
            <a:r>
              <a:t>•  One sample → many physical aliquots</a:t>
            </a:r>
          </a:p>
          <a:p>
            <a:pPr>
              <a:spcAft>
                <a:spcPts val="2000"/>
              </a:spcAft>
              <a:defRPr sz="2100" b="0">
                <a:solidFill>
                  <a:srgbClr val="18323B"/>
                </a:solidFill>
                <a:latin typeface="Arial"/>
              </a:defRPr>
            </a:pPr>
            <a:r>
              <a:t>•  Many researchers ↔ many projects</a:t>
            </a:r>
          </a:p>
          <a:p>
            <a:pPr>
              <a:spcAft>
                <a:spcPts val="2000"/>
              </a:spcAft>
              <a:defRPr sz="2100" b="0">
                <a:solidFill>
                  <a:srgbClr val="18323B"/>
                </a:solidFill>
                <a:latin typeface="Arial"/>
              </a:defRPr>
            </a:pPr>
            <a:r>
              <a:t>•  Every use changes governed inventory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1874519"/>
            <a:ext cx="2148840" cy="15727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9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0" y="1874519"/>
            <a:ext cx="91440" cy="1572768"/>
          </a:xfrm>
          <a:prstGeom prst="rect">
            <a:avLst/>
          </a:prstGeom>
          <a:solidFill>
            <a:srgbClr val="2BA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12280" y="2103120"/>
            <a:ext cx="1737360" cy="594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2BAE9B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12280" y="2807208"/>
            <a:ext cx="1737360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607982"/>
                </a:solidFill>
                <a:latin typeface="Arial"/>
              </a:rPr>
              <a:t>Donor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34272" y="1874519"/>
            <a:ext cx="2148840" cy="15727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9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034272" y="1874519"/>
            <a:ext cx="91440" cy="1572768"/>
          </a:xfrm>
          <a:prstGeom prst="rect">
            <a:avLst/>
          </a:prstGeom>
          <a:solidFill>
            <a:srgbClr val="428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62872" y="2103120"/>
            <a:ext cx="1737360" cy="594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4285C5"/>
                </a:solidFill>
                <a:latin typeface="Arial"/>
              </a:rPr>
              <a:t>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62872" y="2807208"/>
            <a:ext cx="1737360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607982"/>
                </a:solidFill>
                <a:latin typeface="Arial"/>
              </a:rPr>
              <a:t>Samples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0" y="3858768"/>
            <a:ext cx="2148840" cy="15727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9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0" y="3858768"/>
            <a:ext cx="91440" cy="1572768"/>
          </a:xfrm>
          <a:prstGeom prst="rect">
            <a:avLst/>
          </a:prstGeom>
          <a:solidFill>
            <a:srgbClr val="8C6B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12280" y="4087368"/>
            <a:ext cx="1737360" cy="594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8C6BC1"/>
                </a:solidFill>
                <a:latin typeface="Arial"/>
              </a:rPr>
              <a:t>M:N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12280" y="4791456"/>
            <a:ext cx="1737360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607982"/>
                </a:solidFill>
                <a:latin typeface="Arial"/>
              </a:rPr>
              <a:t>Projects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34272" y="3858768"/>
            <a:ext cx="2148840" cy="15727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9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34272" y="3858768"/>
            <a:ext cx="91440" cy="1572768"/>
          </a:xfrm>
          <a:prstGeom prst="rect">
            <a:avLst/>
          </a:prstGeom>
          <a:solidFill>
            <a:srgbClr val="D565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62872" y="4087368"/>
            <a:ext cx="1737360" cy="594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D5656F"/>
                </a:solidFill>
                <a:latin typeface="Arial"/>
              </a:rPr>
              <a:t>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62872" y="4791456"/>
            <a:ext cx="1737360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607982"/>
                </a:solidFill>
                <a:latin typeface="Arial"/>
              </a:rPr>
              <a:t>Inventory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BA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93192"/>
            <a:ext cx="1069848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BAE9B"/>
                </a:solidFill>
                <a:latin typeface="Arial"/>
              </a:rPr>
              <a:t>A FOCUSED RESEARCH BIOBANK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881360" cy="5852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23B4A"/>
                </a:solidFill>
                <a:latin typeface="Arial"/>
              </a:rPr>
              <a:t>Scope and stakeholders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28016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07982"/>
                </a:solidFill>
                <a:latin typeface="Arial"/>
              </a:rPr>
              <a:t>BioVault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10528"/>
            <a:ext cx="50292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607982"/>
                </a:solidFill>
                <a:latin typeface="Arial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64208"/>
            <a:ext cx="5138928" cy="4343400"/>
          </a:xfrm>
          <a:prstGeom prst="rect">
            <a:avLst/>
          </a:prstGeom>
          <a:noFill/>
        </p:spPr>
        <p:txBody>
          <a:bodyPr wrap="square" lIns="0" rIns="54864">
            <a:spAutoFit/>
          </a:bodyPr>
          <a:lstStyle/>
          <a:p>
            <a:pPr>
              <a:spcAft>
                <a:spcPts val="2000"/>
              </a:spcAft>
              <a:defRPr sz="2100" b="1">
                <a:solidFill>
                  <a:srgbClr val="18323B"/>
                </a:solidFill>
                <a:latin typeface="Arial"/>
              </a:defRPr>
            </a:pPr>
            <a:r>
              <a:t>•  In: consent, collection, inventory, tests, usage</a:t>
            </a:r>
          </a:p>
          <a:p>
            <a:pPr>
              <a:spcAft>
                <a:spcPts val="2000"/>
              </a:spcAft>
              <a:defRPr sz="2100" b="0">
                <a:solidFill>
                  <a:srgbClr val="18323B"/>
                </a:solidFill>
                <a:latin typeface="Arial"/>
              </a:defRPr>
            </a:pPr>
            <a:r>
              <a:t>•  Users: biobank, lab, quality, researchers</a:t>
            </a:r>
          </a:p>
          <a:p>
            <a:pPr>
              <a:spcAft>
                <a:spcPts val="2000"/>
              </a:spcAft>
              <a:defRPr sz="2100" b="0">
                <a:solidFill>
                  <a:srgbClr val="18323B"/>
                </a:solidFill>
                <a:latin typeface="Arial"/>
              </a:defRPr>
            </a:pPr>
            <a:r>
              <a:t>•  Out: treatment, billing, direct identity</a:t>
            </a:r>
          </a:p>
          <a:p>
            <a:pPr>
              <a:spcAft>
                <a:spcPts val="2000"/>
              </a:spcAft>
              <a:defRPr sz="2100" b="0">
                <a:solidFill>
                  <a:srgbClr val="18323B"/>
                </a:solidFill>
                <a:latin typeface="Arial"/>
              </a:defRPr>
            </a:pPr>
            <a:r>
              <a:t>•  Synthetic data only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1874519"/>
            <a:ext cx="2148840" cy="15727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9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0" y="1874519"/>
            <a:ext cx="91440" cy="1572768"/>
          </a:xfrm>
          <a:prstGeom prst="rect">
            <a:avLst/>
          </a:prstGeom>
          <a:solidFill>
            <a:srgbClr val="2BA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12280" y="2103120"/>
            <a:ext cx="1737360" cy="594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2BAE9B"/>
                </a:solidFill>
                <a:latin typeface="Arial"/>
              </a:rPr>
              <a:t>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12280" y="2807208"/>
            <a:ext cx="1737360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607982"/>
                </a:solidFill>
                <a:latin typeface="Arial"/>
              </a:rPr>
              <a:t>Research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34272" y="1874519"/>
            <a:ext cx="2148840" cy="15727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9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034272" y="1874519"/>
            <a:ext cx="91440" cy="1572768"/>
          </a:xfrm>
          <a:prstGeom prst="rect">
            <a:avLst/>
          </a:prstGeom>
          <a:solidFill>
            <a:srgbClr val="428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62872" y="2103120"/>
            <a:ext cx="1737360" cy="594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4285C5"/>
                </a:solidFill>
                <a:latin typeface="Arial"/>
              </a:rPr>
              <a:t>OUT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62872" y="2807208"/>
            <a:ext cx="1737360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607982"/>
                </a:solidFill>
                <a:latin typeface="Arial"/>
              </a:rPr>
              <a:t>Direct ID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0" y="3858768"/>
            <a:ext cx="2148840" cy="15727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9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0" y="3858768"/>
            <a:ext cx="91440" cy="1572768"/>
          </a:xfrm>
          <a:prstGeom prst="rect">
            <a:avLst/>
          </a:prstGeom>
          <a:solidFill>
            <a:srgbClr val="8C6B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12280" y="4087368"/>
            <a:ext cx="1737360" cy="594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8C6BC1"/>
                </a:solidFill>
                <a:latin typeface="Arial"/>
              </a:rPr>
              <a:t>WHO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12280" y="4791456"/>
            <a:ext cx="1737360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607982"/>
                </a:solidFill>
                <a:latin typeface="Arial"/>
              </a:rPr>
              <a:t>Lab teams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34272" y="3858768"/>
            <a:ext cx="2148840" cy="15727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9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34272" y="3858768"/>
            <a:ext cx="91440" cy="1572768"/>
          </a:xfrm>
          <a:prstGeom prst="rect">
            <a:avLst/>
          </a:prstGeom>
          <a:solidFill>
            <a:srgbClr val="D565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62872" y="4087368"/>
            <a:ext cx="1737360" cy="594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D5656F"/>
                </a:solidFill>
                <a:latin typeface="Arial"/>
              </a:rPr>
              <a:t>DATA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62872" y="4791456"/>
            <a:ext cx="1737360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607982"/>
                </a:solidFill>
                <a:latin typeface="Arial"/>
              </a:rPr>
              <a:t>Synthetic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BA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93192"/>
            <a:ext cx="1069848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BAE9B"/>
                </a:solidFill>
                <a:latin typeface="Arial"/>
              </a:rPr>
              <a:t>RULES ARE ENFORCEABLE, NOT JUST DOCUMENTED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881360" cy="5852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23B4A"/>
                </a:solidFill>
                <a:latin typeface="Arial"/>
              </a:rPr>
              <a:t>Core business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28016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07982"/>
                </a:solidFill>
                <a:latin typeface="Arial"/>
              </a:rPr>
              <a:t>BioVault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10528"/>
            <a:ext cx="50292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607982"/>
                </a:solidFill>
                <a:latin typeface="Arial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64208"/>
            <a:ext cx="5138928" cy="4343400"/>
          </a:xfrm>
          <a:prstGeom prst="rect">
            <a:avLst/>
          </a:prstGeom>
          <a:noFill/>
        </p:spPr>
        <p:txBody>
          <a:bodyPr wrap="square" lIns="0" rIns="54864">
            <a:spAutoFit/>
          </a:bodyPr>
          <a:lstStyle/>
          <a:p>
            <a:pPr>
              <a:spcAft>
                <a:spcPts val="2000"/>
              </a:spcAft>
              <a:defRPr sz="2100" b="1">
                <a:solidFill>
                  <a:srgbClr val="18323B"/>
                </a:solidFill>
                <a:latin typeface="Arial"/>
              </a:defRPr>
            </a:pPr>
            <a:r>
              <a:t>•  Typed, dated, versioned consent</a:t>
            </a:r>
          </a:p>
          <a:p>
            <a:pPr>
              <a:spcAft>
                <a:spcPts val="2000"/>
              </a:spcAft>
              <a:defRPr sz="2100" b="0">
                <a:solidFill>
                  <a:srgbClr val="18323B"/>
                </a:solidFill>
                <a:latin typeface="Arial"/>
              </a:defRPr>
            </a:pPr>
            <a:r>
              <a:t>•  Unique codes and storage positions</a:t>
            </a:r>
          </a:p>
          <a:p>
            <a:pPr>
              <a:spcAft>
                <a:spcPts val="2000"/>
              </a:spcAft>
              <a:defRPr sz="2100" b="0">
                <a:solidFill>
                  <a:srgbClr val="18323B"/>
                </a:solidFill>
                <a:latin typeface="Arial"/>
              </a:defRPr>
            </a:pPr>
            <a:r>
              <a:t>•  Quantity: 0 ≤ current ≤ initial</a:t>
            </a:r>
          </a:p>
          <a:p>
            <a:pPr>
              <a:spcAft>
                <a:spcPts val="2000"/>
              </a:spcAft>
              <a:defRPr sz="2100" b="0">
                <a:solidFill>
                  <a:srgbClr val="18323B"/>
                </a:solidFill>
                <a:latin typeface="Arial"/>
              </a:defRPr>
            </a:pPr>
            <a:r>
              <a:t>•  Usage requires consent + membership + stock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1874519"/>
            <a:ext cx="2148840" cy="15727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9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0" y="1874519"/>
            <a:ext cx="91440" cy="1572768"/>
          </a:xfrm>
          <a:prstGeom prst="rect">
            <a:avLst/>
          </a:prstGeom>
          <a:solidFill>
            <a:srgbClr val="2BA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12280" y="2103120"/>
            <a:ext cx="1737360" cy="594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2BAE9B"/>
                </a:solidFill>
                <a:latin typeface="Arial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12280" y="2807208"/>
            <a:ext cx="1737360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607982"/>
                </a:solidFill>
                <a:latin typeface="Arial"/>
              </a:rPr>
              <a:t>Consent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34272" y="1874519"/>
            <a:ext cx="2148840" cy="15727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9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034272" y="1874519"/>
            <a:ext cx="91440" cy="1572768"/>
          </a:xfrm>
          <a:prstGeom prst="rect">
            <a:avLst/>
          </a:prstGeom>
          <a:solidFill>
            <a:srgbClr val="428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62872" y="2103120"/>
            <a:ext cx="1737360" cy="594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4285C5"/>
                </a:solidFill>
                <a:latin typeface="Arial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62872" y="2807208"/>
            <a:ext cx="1737360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607982"/>
                </a:solidFill>
                <a:latin typeface="Arial"/>
              </a:rPr>
              <a:t>Membership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0" y="3858768"/>
            <a:ext cx="2148840" cy="15727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9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0" y="3858768"/>
            <a:ext cx="91440" cy="1572768"/>
          </a:xfrm>
          <a:prstGeom prst="rect">
            <a:avLst/>
          </a:prstGeom>
          <a:solidFill>
            <a:srgbClr val="8C6B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12280" y="4087368"/>
            <a:ext cx="1737360" cy="594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8C6BC1"/>
                </a:solidFill>
                <a:latin typeface="Arial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12280" y="4791456"/>
            <a:ext cx="1737360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607982"/>
                </a:solidFill>
                <a:latin typeface="Arial"/>
              </a:rPr>
              <a:t>Stock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34272" y="3858768"/>
            <a:ext cx="2148840" cy="15727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9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34272" y="3858768"/>
            <a:ext cx="91440" cy="1572768"/>
          </a:xfrm>
          <a:prstGeom prst="rect">
            <a:avLst/>
          </a:prstGeom>
          <a:solidFill>
            <a:srgbClr val="D565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62872" y="4087368"/>
            <a:ext cx="1737360" cy="594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D5656F"/>
                </a:solidFill>
                <a:latin typeface="Arial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62872" y="4791456"/>
            <a:ext cx="1737360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607982"/>
                </a:solidFill>
                <a:latin typeface="Arial"/>
              </a:rPr>
              <a:t>Audit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BA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93192"/>
            <a:ext cx="1069848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BAE9B"/>
                </a:solidFill>
                <a:latin typeface="Arial"/>
              </a:rPr>
              <a:t>15 RELATIONS ACROSS FIVE RESPONSIBILITY AREAS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881360" cy="5852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23B4A"/>
                </a:solidFill>
                <a:latin typeface="Arial"/>
              </a:rPr>
              <a:t>Conceptual ER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28016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07982"/>
                </a:solidFill>
                <a:latin typeface="Arial"/>
              </a:rPr>
              <a:t>BioVault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10528"/>
            <a:ext cx="50292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607982"/>
                </a:solidFill>
                <a:latin typeface="Arial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64208"/>
            <a:ext cx="5138928" cy="4343400"/>
          </a:xfrm>
          <a:prstGeom prst="rect">
            <a:avLst/>
          </a:prstGeom>
          <a:noFill/>
        </p:spPr>
        <p:txBody>
          <a:bodyPr wrap="square" lIns="0" rIns="54864">
            <a:spAutoFit/>
          </a:bodyPr>
          <a:lstStyle/>
          <a:p>
            <a:pPr>
              <a:spcAft>
                <a:spcPts val="2000"/>
              </a:spcAft>
              <a:defRPr sz="2100" b="1">
                <a:solidFill>
                  <a:srgbClr val="18323B"/>
                </a:solidFill>
                <a:latin typeface="Arial"/>
              </a:defRPr>
            </a:pPr>
            <a:r>
              <a:t>•  People &amp; permission</a:t>
            </a:r>
          </a:p>
          <a:p>
            <a:pPr>
              <a:spcAft>
                <a:spcPts val="2000"/>
              </a:spcAft>
              <a:defRPr sz="2100" b="0">
                <a:solidFill>
                  <a:srgbClr val="18323B"/>
                </a:solidFill>
                <a:latin typeface="Arial"/>
              </a:defRPr>
            </a:pPr>
            <a:r>
              <a:t>•  Specimen lineage</a:t>
            </a:r>
          </a:p>
          <a:p>
            <a:pPr>
              <a:spcAft>
                <a:spcPts val="2000"/>
              </a:spcAft>
              <a:defRPr sz="2100" b="0">
                <a:solidFill>
                  <a:srgbClr val="18323B"/>
                </a:solidFill>
                <a:latin typeface="Arial"/>
              </a:defRPr>
            </a:pPr>
            <a:r>
              <a:t>•  Storage &amp; testing</a:t>
            </a:r>
          </a:p>
          <a:p>
            <a:pPr>
              <a:spcAft>
                <a:spcPts val="2000"/>
              </a:spcAft>
              <a:defRPr sz="2100" b="0">
                <a:solidFill>
                  <a:srgbClr val="18323B"/>
                </a:solidFill>
                <a:latin typeface="Arial"/>
              </a:defRPr>
            </a:pPr>
            <a:r>
              <a:t>•  Projects, usage &amp; audit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6208" y="1463040"/>
            <a:ext cx="5413248" cy="4553712"/>
          </a:xfrm>
          <a:prstGeom prst="roundRect">
            <a:avLst/>
          </a:prstGeom>
          <a:solidFill>
            <a:srgbClr val="FFFFFF"/>
          </a:solidFill>
          <a:ln>
            <a:solidFill>
              <a:srgbClr val="C9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E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2512" y="2309128"/>
            <a:ext cx="5120640" cy="286153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BA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93192"/>
            <a:ext cx="1069848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BAE9B"/>
                </a:solidFill>
                <a:latin typeface="Arial"/>
              </a:rPr>
              <a:t>FOREIGN KEYS EXPRESS REQUIRED LINEAGE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881360" cy="5852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23B4A"/>
                </a:solidFill>
                <a:latin typeface="Arial"/>
              </a:rPr>
              <a:t>Cardinality and participation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28016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07982"/>
                </a:solidFill>
                <a:latin typeface="Arial"/>
              </a:rPr>
              <a:t>BioVault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10528"/>
            <a:ext cx="50292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607982"/>
                </a:solidFill>
                <a:latin typeface="Arial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64208"/>
            <a:ext cx="5138928" cy="4343400"/>
          </a:xfrm>
          <a:prstGeom prst="rect">
            <a:avLst/>
          </a:prstGeom>
          <a:noFill/>
        </p:spPr>
        <p:txBody>
          <a:bodyPr wrap="square" lIns="0" rIns="54864">
            <a:spAutoFit/>
          </a:bodyPr>
          <a:lstStyle/>
          <a:p>
            <a:pPr>
              <a:spcAft>
                <a:spcPts val="2000"/>
              </a:spcAft>
              <a:defRPr sz="2100" b="1">
                <a:solidFill>
                  <a:srgbClr val="18323B"/>
                </a:solidFill>
                <a:latin typeface="Arial"/>
              </a:defRPr>
            </a:pPr>
            <a:r>
              <a:t>•  Donor 1 → 0..* collection events</a:t>
            </a:r>
          </a:p>
          <a:p>
            <a:pPr>
              <a:spcAft>
                <a:spcPts val="2000"/>
              </a:spcAft>
              <a:defRPr sz="2100" b="0">
                <a:solidFill>
                  <a:srgbClr val="18323B"/>
                </a:solidFill>
                <a:latin typeface="Arial"/>
              </a:defRPr>
            </a:pPr>
            <a:r>
              <a:t>•  Event 1 → 1..* samples</a:t>
            </a:r>
          </a:p>
          <a:p>
            <a:pPr>
              <a:spcAft>
                <a:spcPts val="2000"/>
              </a:spcAft>
              <a:defRPr sz="2100" b="0">
                <a:solidFill>
                  <a:srgbClr val="18323B"/>
                </a:solidFill>
                <a:latin typeface="Arial"/>
              </a:defRPr>
            </a:pPr>
            <a:r>
              <a:t>•  Sample 1 → 1..* aliquots</a:t>
            </a:r>
          </a:p>
          <a:p>
            <a:pPr>
              <a:spcAft>
                <a:spcPts val="2000"/>
              </a:spcAft>
              <a:defRPr sz="2100" b="0">
                <a:solidFill>
                  <a:srgbClr val="18323B"/>
                </a:solidFill>
                <a:latin typeface="Arial"/>
              </a:defRPr>
            </a:pPr>
            <a:r>
              <a:t>•  Project * ↔ * researcher via bridge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1874519"/>
            <a:ext cx="2148840" cy="15727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9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0" y="1874519"/>
            <a:ext cx="91440" cy="1572768"/>
          </a:xfrm>
          <a:prstGeom prst="rect">
            <a:avLst/>
          </a:prstGeom>
          <a:solidFill>
            <a:srgbClr val="2BA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12280" y="2103120"/>
            <a:ext cx="1737360" cy="594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2BAE9B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12280" y="2807208"/>
            <a:ext cx="1737360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607982"/>
                </a:solidFill>
                <a:latin typeface="Arial"/>
              </a:rPr>
              <a:t>parent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34272" y="1874519"/>
            <a:ext cx="2148840" cy="15727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9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034272" y="1874519"/>
            <a:ext cx="91440" cy="1572768"/>
          </a:xfrm>
          <a:prstGeom prst="rect">
            <a:avLst/>
          </a:prstGeom>
          <a:solidFill>
            <a:srgbClr val="428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62872" y="2103120"/>
            <a:ext cx="1737360" cy="594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4285C5"/>
                </a:solidFill>
                <a:latin typeface="Arial"/>
              </a:rPr>
              <a:t>0..*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62872" y="2807208"/>
            <a:ext cx="1737360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607982"/>
                </a:solidFill>
                <a:latin typeface="Arial"/>
              </a:rPr>
              <a:t>children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0" y="3858768"/>
            <a:ext cx="2148840" cy="15727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9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0" y="3858768"/>
            <a:ext cx="91440" cy="1572768"/>
          </a:xfrm>
          <a:prstGeom prst="rect">
            <a:avLst/>
          </a:prstGeom>
          <a:solidFill>
            <a:srgbClr val="8C6B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12280" y="4087368"/>
            <a:ext cx="1737360" cy="594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8C6BC1"/>
                </a:solidFill>
                <a:latin typeface="Arial"/>
              </a:rPr>
              <a:t>1..*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12280" y="4791456"/>
            <a:ext cx="1737360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607982"/>
                </a:solidFill>
                <a:latin typeface="Arial"/>
              </a:rPr>
              <a:t>required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34272" y="3858768"/>
            <a:ext cx="2148840" cy="15727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9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34272" y="3858768"/>
            <a:ext cx="91440" cy="1572768"/>
          </a:xfrm>
          <a:prstGeom prst="rect">
            <a:avLst/>
          </a:prstGeom>
          <a:solidFill>
            <a:srgbClr val="D565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62872" y="4087368"/>
            <a:ext cx="1737360" cy="594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D5656F"/>
                </a:solidFill>
                <a:latin typeface="Arial"/>
              </a:rPr>
              <a:t>M:N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62872" y="4791456"/>
            <a:ext cx="1737360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607982"/>
                </a:solidFill>
                <a:latin typeface="Arial"/>
              </a:rPr>
              <a:t>bridge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BA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93192"/>
            <a:ext cx="1069848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BAE9B"/>
                </a:solidFill>
                <a:latin typeface="Arial"/>
              </a:rPr>
              <a:t>STABLE JOINS PLUS HUMAN-READABLE CANDIDATE KEYS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881360" cy="5852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23B4A"/>
                </a:solidFill>
                <a:latin typeface="Arial"/>
              </a:rPr>
              <a:t>Relational schema and keys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28016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07982"/>
                </a:solidFill>
                <a:latin typeface="Arial"/>
              </a:rPr>
              <a:t>BioVault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10528"/>
            <a:ext cx="50292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607982"/>
                </a:solidFill>
                <a:latin typeface="Arial"/>
              </a:rP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64208"/>
            <a:ext cx="5138928" cy="4343400"/>
          </a:xfrm>
          <a:prstGeom prst="rect">
            <a:avLst/>
          </a:prstGeom>
          <a:noFill/>
        </p:spPr>
        <p:txBody>
          <a:bodyPr wrap="square" lIns="0" rIns="54864">
            <a:spAutoFit/>
          </a:bodyPr>
          <a:lstStyle/>
          <a:p>
            <a:pPr>
              <a:spcAft>
                <a:spcPts val="2000"/>
              </a:spcAft>
              <a:defRPr sz="2100" b="1">
                <a:solidFill>
                  <a:srgbClr val="18323B"/>
                </a:solidFill>
                <a:latin typeface="Arial"/>
              </a:defRPr>
            </a:pPr>
            <a:r>
              <a:t>•  Identity primary keys</a:t>
            </a:r>
          </a:p>
          <a:p>
            <a:pPr>
              <a:spcAft>
                <a:spcPts val="2000"/>
              </a:spcAft>
              <a:defRPr sz="2100" b="0">
                <a:solidFill>
                  <a:srgbClr val="18323B"/>
                </a:solidFill>
                <a:latin typeface="Arial"/>
              </a:defRPr>
            </a:pPr>
            <a:r>
              <a:t>•  Codes retained as UNIQUE candidate keys</a:t>
            </a:r>
          </a:p>
          <a:p>
            <a:pPr>
              <a:spcAft>
                <a:spcPts val="2000"/>
              </a:spcAft>
              <a:defRPr sz="2100" b="0">
                <a:solidFill>
                  <a:srgbClr val="18323B"/>
                </a:solidFill>
                <a:latin typeface="Arial"/>
              </a:defRPr>
            </a:pPr>
            <a:r>
              <a:t>•  Restrictive historical deletion</a:t>
            </a:r>
          </a:p>
          <a:p>
            <a:pPr>
              <a:spcAft>
                <a:spcPts val="2000"/>
              </a:spcAft>
              <a:defRPr sz="2100" b="0">
                <a:solidFill>
                  <a:srgbClr val="18323B"/>
                </a:solidFill>
                <a:latin typeface="Arial"/>
              </a:defRPr>
            </a:pPr>
            <a:r>
              <a:t>•  Composite membership primary key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1874519"/>
            <a:ext cx="2148840" cy="15727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9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0" y="1874519"/>
            <a:ext cx="91440" cy="1572768"/>
          </a:xfrm>
          <a:prstGeom prst="rect">
            <a:avLst/>
          </a:prstGeom>
          <a:solidFill>
            <a:srgbClr val="2BA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12280" y="2103120"/>
            <a:ext cx="1737360" cy="594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2BAE9B"/>
                </a:solidFill>
                <a:latin typeface="Arial"/>
              </a:rPr>
              <a:t>PK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12280" y="2807208"/>
            <a:ext cx="1737360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607982"/>
                </a:solidFill>
                <a:latin typeface="Arial"/>
              </a:rPr>
              <a:t>identity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34272" y="1874519"/>
            <a:ext cx="2148840" cy="15727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9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034272" y="1874519"/>
            <a:ext cx="91440" cy="1572768"/>
          </a:xfrm>
          <a:prstGeom prst="rect">
            <a:avLst/>
          </a:prstGeom>
          <a:solidFill>
            <a:srgbClr val="428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62872" y="2103120"/>
            <a:ext cx="1737360" cy="594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4285C5"/>
                </a:solidFill>
                <a:latin typeface="Arial"/>
              </a:rPr>
              <a:t>UK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62872" y="2807208"/>
            <a:ext cx="1737360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607982"/>
                </a:solidFill>
                <a:latin typeface="Arial"/>
              </a:rPr>
              <a:t>codes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0" y="3858768"/>
            <a:ext cx="2148840" cy="15727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9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0" y="3858768"/>
            <a:ext cx="91440" cy="1572768"/>
          </a:xfrm>
          <a:prstGeom prst="rect">
            <a:avLst/>
          </a:prstGeom>
          <a:solidFill>
            <a:srgbClr val="8C6B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12280" y="4087368"/>
            <a:ext cx="1737360" cy="594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8C6BC1"/>
                </a:solidFill>
                <a:latin typeface="Arial"/>
              </a:rPr>
              <a:t>FK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12280" y="4791456"/>
            <a:ext cx="1737360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607982"/>
                </a:solidFill>
                <a:latin typeface="Arial"/>
              </a:rPr>
              <a:t>lineage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34272" y="3858768"/>
            <a:ext cx="2148840" cy="15727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9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34272" y="3858768"/>
            <a:ext cx="91440" cy="1572768"/>
          </a:xfrm>
          <a:prstGeom prst="rect">
            <a:avLst/>
          </a:prstGeom>
          <a:solidFill>
            <a:srgbClr val="D565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62872" y="4087368"/>
            <a:ext cx="1737360" cy="594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D5656F"/>
                </a:solidFill>
                <a:latin typeface="Arial"/>
              </a:rPr>
              <a:t>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62872" y="4791456"/>
            <a:ext cx="1737360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607982"/>
                </a:solidFill>
                <a:latin typeface="Arial"/>
              </a:rPr>
              <a:t>domains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BA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93192"/>
            <a:ext cx="1069848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BAE9B"/>
                </a:solidFill>
                <a:latin typeface="Arial"/>
              </a:rPr>
              <a:t>REMOVING UPDATE, INSERT, AND DELETE ANOMALIES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881360" cy="5852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23B4A"/>
                </a:solidFill>
                <a:latin typeface="Arial"/>
              </a:rPr>
              <a:t>Normalization to 3NF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28016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07982"/>
                </a:solidFill>
                <a:latin typeface="Arial"/>
              </a:rPr>
              <a:t>BioVault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10528"/>
            <a:ext cx="50292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607982"/>
                </a:solidFill>
                <a:latin typeface="Arial"/>
              </a:rP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64208"/>
            <a:ext cx="5138928" cy="4343400"/>
          </a:xfrm>
          <a:prstGeom prst="rect">
            <a:avLst/>
          </a:prstGeom>
          <a:noFill/>
        </p:spPr>
        <p:txBody>
          <a:bodyPr wrap="square" lIns="0" rIns="54864">
            <a:spAutoFit/>
          </a:bodyPr>
          <a:lstStyle/>
          <a:p>
            <a:pPr>
              <a:spcAft>
                <a:spcPts val="2000"/>
              </a:spcAft>
              <a:defRPr sz="2100" b="1">
                <a:solidFill>
                  <a:srgbClr val="18323B"/>
                </a:solidFill>
                <a:latin typeface="Arial"/>
              </a:defRPr>
            </a:pPr>
            <a:r>
              <a:t>•  1NF: atomic values, no repeating groups</a:t>
            </a:r>
          </a:p>
          <a:p>
            <a:pPr>
              <a:spcAft>
                <a:spcPts val="2000"/>
              </a:spcAft>
              <a:defRPr sz="2100" b="0">
                <a:solidFill>
                  <a:srgbClr val="18323B"/>
                </a:solidFill>
                <a:latin typeface="Arial"/>
              </a:defRPr>
            </a:pPr>
            <a:r>
              <a:t>•  2NF: bridge facts depend on the whole key</a:t>
            </a:r>
          </a:p>
          <a:p>
            <a:pPr>
              <a:spcAft>
                <a:spcPts val="2000"/>
              </a:spcAft>
              <a:defRPr sz="2100" b="0">
                <a:solidFill>
                  <a:srgbClr val="18323B"/>
                </a:solidFill>
                <a:latin typeface="Arial"/>
              </a:defRPr>
            </a:pPr>
            <a:r>
              <a:t>•  3NF: lookup facts stored once</a:t>
            </a:r>
          </a:p>
          <a:p>
            <a:pPr>
              <a:spcAft>
                <a:spcPts val="2000"/>
              </a:spcAft>
              <a:defRPr sz="2100" b="0">
                <a:solidFill>
                  <a:srgbClr val="18323B"/>
                </a:solidFill>
                <a:latin typeface="Arial"/>
              </a:defRPr>
            </a:pPr>
            <a:r>
              <a:t>•  Audit JSONB is an intentional history object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1874519"/>
            <a:ext cx="2148840" cy="15727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9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0" y="1874519"/>
            <a:ext cx="91440" cy="1572768"/>
          </a:xfrm>
          <a:prstGeom prst="rect">
            <a:avLst/>
          </a:prstGeom>
          <a:solidFill>
            <a:srgbClr val="2BA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12280" y="2103120"/>
            <a:ext cx="1737360" cy="594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2BAE9B"/>
                </a:solidFill>
                <a:latin typeface="Arial"/>
              </a:rPr>
              <a:t>1NF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12280" y="2807208"/>
            <a:ext cx="1737360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607982"/>
                </a:solidFill>
                <a:latin typeface="Arial"/>
              </a:rPr>
              <a:t>atomic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34272" y="1874519"/>
            <a:ext cx="2148840" cy="15727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9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034272" y="1874519"/>
            <a:ext cx="91440" cy="1572768"/>
          </a:xfrm>
          <a:prstGeom prst="rect">
            <a:avLst/>
          </a:prstGeom>
          <a:solidFill>
            <a:srgbClr val="428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62872" y="2103120"/>
            <a:ext cx="1737360" cy="594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4285C5"/>
                </a:solidFill>
                <a:latin typeface="Arial"/>
              </a:rPr>
              <a:t>2NF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62872" y="2807208"/>
            <a:ext cx="1737360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607982"/>
                </a:solidFill>
                <a:latin typeface="Arial"/>
              </a:rPr>
              <a:t>whole key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0" y="3858768"/>
            <a:ext cx="2148840" cy="15727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9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0" y="3858768"/>
            <a:ext cx="91440" cy="1572768"/>
          </a:xfrm>
          <a:prstGeom prst="rect">
            <a:avLst/>
          </a:prstGeom>
          <a:solidFill>
            <a:srgbClr val="8C6B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12280" y="4087368"/>
            <a:ext cx="1737360" cy="594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8C6BC1"/>
                </a:solidFill>
                <a:latin typeface="Arial"/>
              </a:rPr>
              <a:t>3NF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12280" y="4791456"/>
            <a:ext cx="1737360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607982"/>
                </a:solidFill>
                <a:latin typeface="Arial"/>
              </a:rPr>
              <a:t>no transitives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34272" y="3858768"/>
            <a:ext cx="2148840" cy="15727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9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34272" y="3858768"/>
            <a:ext cx="91440" cy="1572768"/>
          </a:xfrm>
          <a:prstGeom prst="rect">
            <a:avLst/>
          </a:prstGeom>
          <a:solidFill>
            <a:srgbClr val="D565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62872" y="4087368"/>
            <a:ext cx="1737360" cy="594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D5656F"/>
                </a:solidFill>
                <a:latin typeface="Arial"/>
              </a:rPr>
              <a:t>JSONB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62872" y="4791456"/>
            <a:ext cx="1737360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607982"/>
                </a:solidFill>
                <a:latin typeface="Arial"/>
              </a:rPr>
              <a:t>history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BA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93192"/>
            <a:ext cx="1069848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BAE9B"/>
                </a:solidFill>
                <a:latin typeface="Arial"/>
              </a:rPr>
              <a:t>REPRODUCIBLE FROM ONE SETUP SCRIPT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881360" cy="5852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23B4A"/>
                </a:solidFill>
                <a:latin typeface="Arial"/>
              </a:rPr>
              <a:t>PostgreSQL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28016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07982"/>
                </a:solidFill>
                <a:latin typeface="Arial"/>
              </a:rPr>
              <a:t>BioVault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10528"/>
            <a:ext cx="50292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607982"/>
                </a:solidFill>
                <a:latin typeface="Arial"/>
              </a:rP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64208"/>
            <a:ext cx="5138928" cy="4343400"/>
          </a:xfrm>
          <a:prstGeom prst="rect">
            <a:avLst/>
          </a:prstGeom>
          <a:noFill/>
        </p:spPr>
        <p:txBody>
          <a:bodyPr wrap="square" lIns="0" rIns="54864">
            <a:spAutoFit/>
          </a:bodyPr>
          <a:lstStyle/>
          <a:p>
            <a:pPr>
              <a:spcAft>
                <a:spcPts val="2000"/>
              </a:spcAft>
              <a:defRPr sz="2100" b="1">
                <a:solidFill>
                  <a:srgbClr val="18323B"/>
                </a:solidFill>
                <a:latin typeface="Arial"/>
              </a:defRPr>
            </a:pPr>
            <a:r>
              <a:t>•  create_tables.sql</a:t>
            </a:r>
          </a:p>
          <a:p>
            <a:pPr>
              <a:spcAft>
                <a:spcPts val="2000"/>
              </a:spcAft>
              <a:defRPr sz="2100" b="0">
                <a:solidFill>
                  <a:srgbClr val="18323B"/>
                </a:solidFill>
                <a:latin typeface="Arial"/>
              </a:defRPr>
            </a:pPr>
            <a:r>
              <a:t>•  triggers_procedures.sql</a:t>
            </a:r>
          </a:p>
          <a:p>
            <a:pPr>
              <a:spcAft>
                <a:spcPts val="2000"/>
              </a:spcAft>
              <a:defRPr sz="2100" b="0">
                <a:solidFill>
                  <a:srgbClr val="18323B"/>
                </a:solidFill>
                <a:latin typeface="Arial"/>
              </a:defRPr>
            </a:pPr>
            <a:r>
              <a:t>•  load_data.sql</a:t>
            </a:r>
          </a:p>
          <a:p>
            <a:pPr>
              <a:spcAft>
                <a:spcPts val="2000"/>
              </a:spcAft>
              <a:defRPr sz="2100" b="0">
                <a:solidFill>
                  <a:srgbClr val="18323B"/>
                </a:solidFill>
                <a:latin typeface="Arial"/>
              </a:defRPr>
            </a:pPr>
            <a:r>
              <a:t>•  views.sql + setup.sql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1874519"/>
            <a:ext cx="2148840" cy="15727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9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0" y="1874519"/>
            <a:ext cx="91440" cy="1572768"/>
          </a:xfrm>
          <a:prstGeom prst="rect">
            <a:avLst/>
          </a:prstGeom>
          <a:solidFill>
            <a:srgbClr val="2BA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12280" y="2103120"/>
            <a:ext cx="1737360" cy="594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2BAE9B"/>
                </a:solidFill>
                <a:latin typeface="Arial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12280" y="2807208"/>
            <a:ext cx="1737360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607982"/>
                </a:solidFill>
                <a:latin typeface="Arial"/>
              </a:rPr>
              <a:t>DDL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34272" y="1874519"/>
            <a:ext cx="2148840" cy="15727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9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034272" y="1874519"/>
            <a:ext cx="91440" cy="1572768"/>
          </a:xfrm>
          <a:prstGeom prst="rect">
            <a:avLst/>
          </a:prstGeom>
          <a:solidFill>
            <a:srgbClr val="428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62872" y="2103120"/>
            <a:ext cx="1737360" cy="594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4285C5"/>
                </a:solidFill>
                <a:latin typeface="Arial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62872" y="2807208"/>
            <a:ext cx="1737360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607982"/>
                </a:solidFill>
                <a:latin typeface="Arial"/>
              </a:rPr>
              <a:t>logic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0" y="3858768"/>
            <a:ext cx="2148840" cy="15727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9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0" y="3858768"/>
            <a:ext cx="91440" cy="1572768"/>
          </a:xfrm>
          <a:prstGeom prst="rect">
            <a:avLst/>
          </a:prstGeom>
          <a:solidFill>
            <a:srgbClr val="8C6B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12280" y="4087368"/>
            <a:ext cx="1737360" cy="594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8C6BC1"/>
                </a:solidFill>
                <a:latin typeface="Arial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12280" y="4791456"/>
            <a:ext cx="1737360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607982"/>
                </a:solidFill>
                <a:latin typeface="Arial"/>
              </a:rPr>
              <a:t>data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34272" y="3858768"/>
            <a:ext cx="2148840" cy="15727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9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34272" y="3858768"/>
            <a:ext cx="91440" cy="1572768"/>
          </a:xfrm>
          <a:prstGeom prst="rect">
            <a:avLst/>
          </a:prstGeom>
          <a:solidFill>
            <a:srgbClr val="D565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62872" y="4087368"/>
            <a:ext cx="1737360" cy="594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D5656F"/>
                </a:solidFill>
                <a:latin typeface="Arial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62872" y="4791456"/>
            <a:ext cx="1737360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607982"/>
                </a:solidFill>
                <a:latin typeface="Arial"/>
              </a:rPr>
              <a:t>views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BA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93192"/>
            <a:ext cx="1069848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BAE9B"/>
                </a:solidFill>
                <a:latin typeface="Arial"/>
              </a:rPr>
              <a:t>INTEGRITY FIRST; SPEED WHERE QUERIES NEED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881360" cy="5852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23B4A"/>
                </a:solidFill>
                <a:latin typeface="Arial"/>
              </a:rPr>
              <a:t>Constraints and indexes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28016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07982"/>
                </a:solidFill>
                <a:latin typeface="Arial"/>
              </a:rPr>
              <a:t>BioVault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10528"/>
            <a:ext cx="50292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607982"/>
                </a:solidFill>
                <a:latin typeface="Arial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64208"/>
            <a:ext cx="5138928" cy="4343400"/>
          </a:xfrm>
          <a:prstGeom prst="rect">
            <a:avLst/>
          </a:prstGeom>
          <a:noFill/>
        </p:spPr>
        <p:txBody>
          <a:bodyPr wrap="square" lIns="0" rIns="54864">
            <a:spAutoFit/>
          </a:bodyPr>
          <a:lstStyle/>
          <a:p>
            <a:pPr>
              <a:spcAft>
                <a:spcPts val="2000"/>
              </a:spcAft>
              <a:defRPr sz="2100" b="1">
                <a:solidFill>
                  <a:srgbClr val="18323B"/>
                </a:solidFill>
                <a:latin typeface="Arial"/>
              </a:defRPr>
            </a:pPr>
            <a:r>
              <a:t>•  CHECK: formats, dates, states, quantities</a:t>
            </a:r>
          </a:p>
          <a:p>
            <a:pPr>
              <a:spcAft>
                <a:spcPts val="2000"/>
              </a:spcAft>
              <a:defRPr sz="2100" b="0">
                <a:solidFill>
                  <a:srgbClr val="18323B"/>
                </a:solidFill>
                <a:latin typeface="Arial"/>
              </a:defRPr>
            </a:pPr>
            <a:r>
              <a:t>•  UNIQUE: codes, ethics approval, box position</a:t>
            </a:r>
          </a:p>
          <a:p>
            <a:pPr>
              <a:spcAft>
                <a:spcPts val="2000"/>
              </a:spcAft>
              <a:defRPr sz="2100" b="0">
                <a:solidFill>
                  <a:srgbClr val="18323B"/>
                </a:solidFill>
                <a:latin typeface="Arial"/>
              </a:defRPr>
            </a:pPr>
            <a:r>
              <a:t>•  FK: complete scientific lineage</a:t>
            </a:r>
          </a:p>
          <a:p>
            <a:pPr>
              <a:spcAft>
                <a:spcPts val="2000"/>
              </a:spcAft>
              <a:defRPr sz="2100" b="0">
                <a:solidFill>
                  <a:srgbClr val="18323B"/>
                </a:solidFill>
                <a:latin typeface="Arial"/>
              </a:defRPr>
            </a:pPr>
            <a:r>
              <a:t>•  Partial index: available aliquots with stock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1874519"/>
            <a:ext cx="2148840" cy="15727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9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0" y="1874519"/>
            <a:ext cx="91440" cy="1572768"/>
          </a:xfrm>
          <a:prstGeom prst="rect">
            <a:avLst/>
          </a:prstGeom>
          <a:solidFill>
            <a:srgbClr val="2BA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12280" y="2103120"/>
            <a:ext cx="1737360" cy="594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2BAE9B"/>
                </a:solidFill>
                <a:latin typeface="Arial"/>
              </a:rPr>
              <a:t>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12280" y="2807208"/>
            <a:ext cx="1737360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607982"/>
                </a:solidFill>
                <a:latin typeface="Arial"/>
              </a:rPr>
              <a:t>valid states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34272" y="1874519"/>
            <a:ext cx="2148840" cy="15727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9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034272" y="1874519"/>
            <a:ext cx="91440" cy="1572768"/>
          </a:xfrm>
          <a:prstGeom prst="rect">
            <a:avLst/>
          </a:prstGeom>
          <a:solidFill>
            <a:srgbClr val="428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62872" y="2103120"/>
            <a:ext cx="1737360" cy="594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4285C5"/>
                </a:solidFill>
                <a:latin typeface="Arial"/>
              </a:rPr>
              <a:t>UNIQUE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62872" y="2807208"/>
            <a:ext cx="1737360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607982"/>
                </a:solidFill>
                <a:latin typeface="Arial"/>
              </a:rPr>
              <a:t>identity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0" y="3858768"/>
            <a:ext cx="2148840" cy="15727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9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0" y="3858768"/>
            <a:ext cx="91440" cy="1572768"/>
          </a:xfrm>
          <a:prstGeom prst="rect">
            <a:avLst/>
          </a:prstGeom>
          <a:solidFill>
            <a:srgbClr val="8C6B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12280" y="4087368"/>
            <a:ext cx="1737360" cy="594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8C6BC1"/>
                </a:solidFill>
                <a:latin typeface="Arial"/>
              </a:rPr>
              <a:t>FK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12280" y="4791456"/>
            <a:ext cx="1737360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607982"/>
                </a:solidFill>
                <a:latin typeface="Arial"/>
              </a:rPr>
              <a:t>lineage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34272" y="3858768"/>
            <a:ext cx="2148840" cy="15727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9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34272" y="3858768"/>
            <a:ext cx="91440" cy="1572768"/>
          </a:xfrm>
          <a:prstGeom prst="rect">
            <a:avLst/>
          </a:prstGeom>
          <a:solidFill>
            <a:srgbClr val="D565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62872" y="4087368"/>
            <a:ext cx="1737360" cy="594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D5656F"/>
                </a:solidFill>
                <a:latin typeface="Arial"/>
              </a:rPr>
              <a:t>INDEX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62872" y="4791456"/>
            <a:ext cx="1737360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607982"/>
                </a:solidFill>
                <a:latin typeface="Arial"/>
              </a:rPr>
              <a:t>access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BA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93192"/>
            <a:ext cx="1069848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BAE9B"/>
                </a:solidFill>
                <a:latin typeface="Arial"/>
              </a:rPr>
              <a:t>CONCURRENCY-SAFE SAMPLE CONSUMPTION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881360" cy="5852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23B4A"/>
                </a:solidFill>
                <a:latin typeface="Arial"/>
              </a:rPr>
              <a:t>Advanced business object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28016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07982"/>
                </a:solidFill>
                <a:latin typeface="Arial"/>
              </a:rPr>
              <a:t>BioVault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10528"/>
            <a:ext cx="50292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607982"/>
                </a:solidFill>
                <a:latin typeface="Arial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64208"/>
            <a:ext cx="5138928" cy="4343400"/>
          </a:xfrm>
          <a:prstGeom prst="rect">
            <a:avLst/>
          </a:prstGeom>
          <a:noFill/>
        </p:spPr>
        <p:txBody>
          <a:bodyPr wrap="square" lIns="0" rIns="54864">
            <a:spAutoFit/>
          </a:bodyPr>
          <a:lstStyle/>
          <a:p>
            <a:pPr>
              <a:spcAft>
                <a:spcPts val="2000"/>
              </a:spcAft>
              <a:defRPr sz="2100" b="1">
                <a:solidFill>
                  <a:srgbClr val="18323B"/>
                </a:solidFill>
                <a:latin typeface="Arial"/>
              </a:defRPr>
            </a:pPr>
            <a:r>
              <a:t>•  1. Lock aliquot FOR UPDATE</a:t>
            </a:r>
          </a:p>
          <a:p>
            <a:pPr>
              <a:spcAft>
                <a:spcPts val="2000"/>
              </a:spcAft>
              <a:defRPr sz="2100" b="0">
                <a:solidFill>
                  <a:srgbClr val="18323B"/>
                </a:solidFill>
                <a:latin typeface="Arial"/>
              </a:defRPr>
            </a:pPr>
            <a:r>
              <a:t>•  2. Validate project and membership</a:t>
            </a:r>
          </a:p>
          <a:p>
            <a:pPr>
              <a:spcAft>
                <a:spcPts val="2000"/>
              </a:spcAft>
              <a:defRPr sz="2100" b="0">
                <a:solidFill>
                  <a:srgbClr val="18323B"/>
                </a:solidFill>
                <a:latin typeface="Arial"/>
              </a:defRPr>
            </a:pPr>
            <a:r>
              <a:t>•  3. Validate active RESEARCH_USE consent</a:t>
            </a:r>
          </a:p>
          <a:p>
            <a:pPr>
              <a:spcAft>
                <a:spcPts val="2000"/>
              </a:spcAft>
              <a:defRPr sz="2100" b="0">
                <a:solidFill>
                  <a:srgbClr val="18323B"/>
                </a:solidFill>
                <a:latin typeface="Arial"/>
              </a:defRPr>
            </a:pPr>
            <a:r>
              <a:t>•  4. Reject overdraw; deduct atomically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773936"/>
            <a:ext cx="2286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C9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656831" y="1956816"/>
            <a:ext cx="502920" cy="502920"/>
          </a:xfrm>
          <a:prstGeom prst="ellipse">
            <a:avLst/>
          </a:prstGeom>
          <a:solidFill>
            <a:srgbClr val="2BA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56831" y="2048255"/>
            <a:ext cx="50292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87768" y="1956816"/>
            <a:ext cx="1234440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18323B"/>
                </a:solidFill>
                <a:latin typeface="Arial"/>
              </a:rPr>
              <a:t>Lock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59" y="2706624"/>
            <a:ext cx="1783080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07982"/>
                </a:solidFill>
                <a:latin typeface="Arial"/>
              </a:rPr>
              <a:t>FOR UPDATE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98280" y="1773936"/>
            <a:ext cx="2286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C9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262872" y="1956816"/>
            <a:ext cx="502920" cy="502920"/>
          </a:xfrm>
          <a:prstGeom prst="ellipse">
            <a:avLst/>
          </a:prstGeom>
          <a:solidFill>
            <a:srgbClr val="428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62872" y="2048255"/>
            <a:ext cx="50292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93807" y="1956816"/>
            <a:ext cx="1234440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18323B"/>
                </a:solidFill>
                <a:latin typeface="Arial"/>
              </a:rPr>
              <a:t>Authorize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72600" y="2706624"/>
            <a:ext cx="1783080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07982"/>
                </a:solidFill>
                <a:latin typeface="Arial"/>
              </a:rPr>
              <a:t>project + member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92240" y="3749039"/>
            <a:ext cx="2286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C9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656831" y="3931920"/>
            <a:ext cx="502920" cy="502920"/>
          </a:xfrm>
          <a:prstGeom prst="ellipse">
            <a:avLst/>
          </a:prstGeom>
          <a:solidFill>
            <a:srgbClr val="8C6B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56831" y="4023359"/>
            <a:ext cx="50292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87768" y="3931920"/>
            <a:ext cx="1234440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18323B"/>
                </a:solidFill>
                <a:latin typeface="Arial"/>
              </a:rPr>
              <a:t>Consent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59" y="4681727"/>
            <a:ext cx="1783080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07982"/>
                </a:solidFill>
                <a:latin typeface="Arial"/>
              </a:rPr>
              <a:t>active on date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98280" y="3749039"/>
            <a:ext cx="2286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C9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262872" y="3931920"/>
            <a:ext cx="502920" cy="502920"/>
          </a:xfrm>
          <a:prstGeom prst="ellipse">
            <a:avLst/>
          </a:prstGeom>
          <a:solidFill>
            <a:srgbClr val="D565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62872" y="4023359"/>
            <a:ext cx="50292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93807" y="3931920"/>
            <a:ext cx="1234440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18323B"/>
                </a:solidFill>
                <a:latin typeface="Arial"/>
              </a:rPr>
              <a:t>Deduct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72600" y="4681727"/>
            <a:ext cx="1783080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07982"/>
                </a:solidFill>
                <a:latin typeface="Arial"/>
              </a:rPr>
              <a:t>atomic stock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BA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93192"/>
            <a:ext cx="1069848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BAE9B"/>
                </a:solidFill>
                <a:latin typeface="Arial"/>
              </a:rPr>
              <a:t>OPERATIONAL READS AND DEFENDABLE QUERY VARIETY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881360" cy="5852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23B4A"/>
                </a:solidFill>
                <a:latin typeface="Arial"/>
              </a:rPr>
              <a:t>Views and SQL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28016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07982"/>
                </a:solidFill>
                <a:latin typeface="Arial"/>
              </a:rPr>
              <a:t>BioVault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10528"/>
            <a:ext cx="50292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607982"/>
                </a:solidFill>
                <a:latin typeface="Arial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64208"/>
            <a:ext cx="5138928" cy="4343400"/>
          </a:xfrm>
          <a:prstGeom prst="rect">
            <a:avLst/>
          </a:prstGeom>
          <a:noFill/>
        </p:spPr>
        <p:txBody>
          <a:bodyPr wrap="square" lIns="0" rIns="54864">
            <a:spAutoFit/>
          </a:bodyPr>
          <a:lstStyle/>
          <a:p>
            <a:pPr>
              <a:spcAft>
                <a:spcPts val="2000"/>
              </a:spcAft>
              <a:defRPr sz="2100" b="1">
                <a:solidFill>
                  <a:srgbClr val="18323B"/>
                </a:solidFill>
                <a:latin typeface="Arial"/>
              </a:defRPr>
            </a:pPr>
            <a:r>
              <a:t>•  3 views: inventory, project use, consent</a:t>
            </a:r>
          </a:p>
          <a:p>
            <a:pPr>
              <a:spcAft>
                <a:spcPts val="2000"/>
              </a:spcAft>
              <a:defRPr sz="2100" b="0">
                <a:solidFill>
                  <a:srgbClr val="18323B"/>
                </a:solidFill>
                <a:latin typeface="Arial"/>
              </a:defRPr>
            </a:pPr>
            <a:r>
              <a:t>•  6-table lineage join</a:t>
            </a:r>
          </a:p>
          <a:p>
            <a:pPr>
              <a:spcAft>
                <a:spcPts val="2000"/>
              </a:spcAft>
              <a:defRPr sz="2100" b="0">
                <a:solidFill>
                  <a:srgbClr val="18323B"/>
                </a:solidFill>
                <a:latin typeface="Arial"/>
              </a:defRPr>
            </a:pPr>
            <a:r>
              <a:t>•  Aggregation, HAVING, EXISTS, subquery</a:t>
            </a:r>
          </a:p>
          <a:p>
            <a:pPr>
              <a:spcAft>
                <a:spcPts val="2000"/>
              </a:spcAft>
              <a:defRPr sz="2100" b="0">
                <a:solidFill>
                  <a:srgbClr val="18323B"/>
                </a:solidFill>
                <a:latin typeface="Arial"/>
              </a:defRPr>
            </a:pPr>
            <a:r>
              <a:t>•  Recursive CTE + window rank + CRUD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1874519"/>
            <a:ext cx="2148840" cy="15727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9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0" y="1874519"/>
            <a:ext cx="91440" cy="1572768"/>
          </a:xfrm>
          <a:prstGeom prst="rect">
            <a:avLst/>
          </a:prstGeom>
          <a:solidFill>
            <a:srgbClr val="2BA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12280" y="2103120"/>
            <a:ext cx="1737360" cy="594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2BAE9B"/>
                </a:solidFill>
                <a:latin typeface="Arial"/>
              </a:rPr>
              <a:t>JOIN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12280" y="2807208"/>
            <a:ext cx="1737360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607982"/>
                </a:solidFill>
                <a:latin typeface="Arial"/>
              </a:rPr>
              <a:t>lineage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34272" y="1874519"/>
            <a:ext cx="2148840" cy="15727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9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034272" y="1874519"/>
            <a:ext cx="91440" cy="1572768"/>
          </a:xfrm>
          <a:prstGeom prst="rect">
            <a:avLst/>
          </a:prstGeom>
          <a:solidFill>
            <a:srgbClr val="428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62872" y="2103120"/>
            <a:ext cx="1737360" cy="594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4285C5"/>
                </a:solidFill>
                <a:latin typeface="Arial"/>
              </a:rPr>
              <a:t>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62872" y="2807208"/>
            <a:ext cx="1737360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607982"/>
                </a:solidFill>
                <a:latin typeface="Arial"/>
              </a:rPr>
              <a:t>aggregate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0" y="3858768"/>
            <a:ext cx="2148840" cy="15727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9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0" y="3858768"/>
            <a:ext cx="91440" cy="1572768"/>
          </a:xfrm>
          <a:prstGeom prst="rect">
            <a:avLst/>
          </a:prstGeom>
          <a:solidFill>
            <a:srgbClr val="8C6B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12280" y="4087368"/>
            <a:ext cx="1737360" cy="594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8C6BC1"/>
                </a:solidFill>
                <a:latin typeface="Arial"/>
              </a:rPr>
              <a:t>WITH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12280" y="4791456"/>
            <a:ext cx="1737360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607982"/>
                </a:solidFill>
                <a:latin typeface="Arial"/>
              </a:rPr>
              <a:t>recursive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34272" y="3858768"/>
            <a:ext cx="2148840" cy="15727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9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34272" y="3858768"/>
            <a:ext cx="91440" cy="1572768"/>
          </a:xfrm>
          <a:prstGeom prst="rect">
            <a:avLst/>
          </a:prstGeom>
          <a:solidFill>
            <a:srgbClr val="D565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62872" y="4087368"/>
            <a:ext cx="1737360" cy="594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D5656F"/>
                </a:solidFill>
                <a:latin typeface="Arial"/>
              </a:rPr>
              <a:t>CRUD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62872" y="4791456"/>
            <a:ext cx="1737360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607982"/>
                </a:solidFill>
                <a:latin typeface="Arial"/>
              </a:rPr>
              <a:t>safe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BA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93192"/>
            <a:ext cx="1069848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BAE9B"/>
                </a:solidFill>
                <a:latin typeface="Arial"/>
              </a:rPr>
              <a:t>BOUNDARY STATES ARE DELIBERATE TEST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881360" cy="5852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23B4A"/>
                </a:solidFill>
                <a:latin typeface="Arial"/>
              </a:rPr>
              <a:t>Meaningful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28016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07982"/>
                </a:solidFill>
                <a:latin typeface="Arial"/>
              </a:rPr>
              <a:t>BioVault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10528"/>
            <a:ext cx="50292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607982"/>
                </a:solidFill>
                <a:latin typeface="Arial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64208"/>
            <a:ext cx="5138928" cy="4343400"/>
          </a:xfrm>
          <a:prstGeom prst="rect">
            <a:avLst/>
          </a:prstGeom>
          <a:noFill/>
        </p:spPr>
        <p:txBody>
          <a:bodyPr wrap="square" lIns="0" rIns="54864">
            <a:spAutoFit/>
          </a:bodyPr>
          <a:lstStyle/>
          <a:p>
            <a:pPr>
              <a:spcAft>
                <a:spcPts val="2000"/>
              </a:spcAft>
              <a:defRPr sz="2100" b="1">
                <a:solidFill>
                  <a:srgbClr val="18323B"/>
                </a:solidFill>
                <a:latin typeface="Arial"/>
              </a:defRPr>
            </a:pPr>
            <a:r>
              <a:t>•  12 donors • 20 samples • 20 aliquots</a:t>
            </a:r>
          </a:p>
          <a:p>
            <a:pPr>
              <a:spcAft>
                <a:spcPts val="2000"/>
              </a:spcAft>
              <a:defRPr sz="2100" b="0">
                <a:solidFill>
                  <a:srgbClr val="18323B"/>
                </a:solidFill>
                <a:latin typeface="Arial"/>
              </a:defRPr>
            </a:pPr>
            <a:r>
              <a:t>•  10 researchers • 10 projects • 20 memberships</a:t>
            </a:r>
          </a:p>
          <a:p>
            <a:pPr>
              <a:spcAft>
                <a:spcPts val="2000"/>
              </a:spcAft>
              <a:defRPr sz="2100" b="0">
                <a:solidFill>
                  <a:srgbClr val="18323B"/>
                </a:solidFill>
                <a:latin typeface="Arial"/>
              </a:defRPr>
            </a:pPr>
            <a:r>
              <a:t>•  15 test requests • 12 usage events</a:t>
            </a:r>
          </a:p>
          <a:p>
            <a:pPr>
              <a:spcAft>
                <a:spcPts val="2000"/>
              </a:spcAft>
              <a:defRPr sz="2100" b="0">
                <a:solidFill>
                  <a:srgbClr val="18323B"/>
                </a:solidFill>
                <a:latin typeface="Arial"/>
              </a:defRPr>
            </a:pPr>
            <a:r>
              <a:t>•  Expired and withdrawn consent retained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1874519"/>
            <a:ext cx="2148840" cy="15727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9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0" y="1874519"/>
            <a:ext cx="91440" cy="1572768"/>
          </a:xfrm>
          <a:prstGeom prst="rect">
            <a:avLst/>
          </a:prstGeom>
          <a:solidFill>
            <a:srgbClr val="2BA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12280" y="2103120"/>
            <a:ext cx="1737360" cy="594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2BAE9B"/>
                </a:solidFill>
                <a:latin typeface="Arial"/>
              </a:rPr>
              <a:t>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12280" y="2807208"/>
            <a:ext cx="1737360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607982"/>
                </a:solidFill>
                <a:latin typeface="Arial"/>
              </a:rPr>
              <a:t>donors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34272" y="1874519"/>
            <a:ext cx="2148840" cy="15727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9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034272" y="1874519"/>
            <a:ext cx="91440" cy="1572768"/>
          </a:xfrm>
          <a:prstGeom prst="rect">
            <a:avLst/>
          </a:prstGeom>
          <a:solidFill>
            <a:srgbClr val="428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62872" y="2103120"/>
            <a:ext cx="1737360" cy="594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4285C5"/>
                </a:solidFill>
                <a:latin typeface="Arial"/>
              </a:rPr>
              <a:t>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62872" y="2807208"/>
            <a:ext cx="1737360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607982"/>
                </a:solidFill>
                <a:latin typeface="Arial"/>
              </a:rPr>
              <a:t>samples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0" y="3858768"/>
            <a:ext cx="2148840" cy="15727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9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0" y="3858768"/>
            <a:ext cx="91440" cy="1572768"/>
          </a:xfrm>
          <a:prstGeom prst="rect">
            <a:avLst/>
          </a:prstGeom>
          <a:solidFill>
            <a:srgbClr val="8C6B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12280" y="4087368"/>
            <a:ext cx="1737360" cy="594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8C6BC1"/>
                </a:solidFill>
                <a:latin typeface="Arial"/>
              </a:rPr>
              <a:t>15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12280" y="4791456"/>
            <a:ext cx="1737360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607982"/>
                </a:solidFill>
                <a:latin typeface="Arial"/>
              </a:rPr>
              <a:t>tests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34272" y="3858768"/>
            <a:ext cx="2148840" cy="15727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9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34272" y="3858768"/>
            <a:ext cx="91440" cy="1572768"/>
          </a:xfrm>
          <a:prstGeom prst="rect">
            <a:avLst/>
          </a:prstGeom>
          <a:solidFill>
            <a:srgbClr val="D565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62872" y="4087368"/>
            <a:ext cx="1737360" cy="594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D5656F"/>
                </a:solidFill>
                <a:latin typeface="Arial"/>
              </a:rPr>
              <a:t>12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62872" y="4791456"/>
            <a:ext cx="1737360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607982"/>
                </a:solidFill>
                <a:latin typeface="Arial"/>
              </a:rPr>
              <a:t>usage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BA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93192"/>
            <a:ext cx="1069848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BAE9B"/>
                </a:solidFill>
                <a:latin typeface="Arial"/>
              </a:rPr>
              <a:t>BUILT AND TESTED IN POSTGRESQL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881360" cy="5852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23B4A"/>
                </a:solidFill>
                <a:latin typeface="Arial"/>
              </a:rPr>
              <a:t>Verification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28016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07982"/>
                </a:solidFill>
                <a:latin typeface="Arial"/>
              </a:rPr>
              <a:t>BioVault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10528"/>
            <a:ext cx="50292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607982"/>
                </a:solidFill>
                <a:latin typeface="Arial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64208"/>
            <a:ext cx="5138928" cy="4343400"/>
          </a:xfrm>
          <a:prstGeom prst="rect">
            <a:avLst/>
          </a:prstGeom>
          <a:noFill/>
        </p:spPr>
        <p:txBody>
          <a:bodyPr wrap="square" lIns="0" rIns="54864">
            <a:spAutoFit/>
          </a:bodyPr>
          <a:lstStyle/>
          <a:p>
            <a:pPr>
              <a:spcAft>
                <a:spcPts val="2000"/>
              </a:spcAft>
              <a:defRPr sz="2100" b="1">
                <a:solidFill>
                  <a:srgbClr val="18323B"/>
                </a:solidFill>
                <a:latin typeface="Arial"/>
              </a:defRPr>
            </a:pPr>
            <a:r>
              <a:t>•  9 database assertions passed</a:t>
            </a:r>
          </a:p>
          <a:p>
            <a:pPr>
              <a:spcAft>
                <a:spcPts val="2000"/>
              </a:spcAft>
              <a:defRPr sz="2100" b="0">
                <a:solidFill>
                  <a:srgbClr val="18323B"/>
                </a:solidFill>
                <a:latin typeface="Arial"/>
              </a:defRPr>
            </a:pPr>
            <a:r>
              <a:t>•  8 Python CRUD/data tests passed</a:t>
            </a:r>
          </a:p>
          <a:p>
            <a:pPr>
              <a:spcAft>
                <a:spcPts val="2000"/>
              </a:spcAft>
              <a:defRPr sz="2100" b="0">
                <a:solidFill>
                  <a:srgbClr val="18323B"/>
                </a:solidFill>
                <a:latin typeface="Arial"/>
              </a:defRPr>
            </a:pPr>
            <a:r>
              <a:t>•  Clean setup and all queries succeeded</a:t>
            </a:r>
          </a:p>
          <a:p>
            <a:pPr>
              <a:spcAft>
                <a:spcPts val="2000"/>
              </a:spcAft>
              <a:defRPr sz="2100" b="0">
                <a:solidFill>
                  <a:srgbClr val="18323B"/>
                </a:solidFill>
                <a:latin typeface="Arial"/>
              </a:defRPr>
            </a:pPr>
            <a:r>
              <a:t>•  Negative tests prove rules fail safely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6208" y="1463040"/>
            <a:ext cx="5413248" cy="4553712"/>
          </a:xfrm>
          <a:prstGeom prst="roundRect">
            <a:avLst/>
          </a:prstGeom>
          <a:solidFill>
            <a:srgbClr val="FFFFFF"/>
          </a:solidFill>
          <a:ln>
            <a:solidFill>
              <a:srgbClr val="C9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atabase_tes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2512" y="2149802"/>
            <a:ext cx="5120640" cy="318018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BA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93192"/>
            <a:ext cx="1069848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BAE9B"/>
                </a:solidFill>
                <a:latin typeface="Arial"/>
              </a:rPr>
              <a:t>SEARCHABLE DATA AND VALIDATED CRUD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881360" cy="5852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23B4A"/>
                </a:solidFill>
                <a:latin typeface="Arial"/>
              </a:rPr>
              <a:t>Bonus: connected desktop UI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28016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07982"/>
                </a:solidFill>
                <a:latin typeface="Arial"/>
              </a:rPr>
              <a:t>BioVault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10528"/>
            <a:ext cx="50292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607982"/>
                </a:solidFill>
                <a:latin typeface="Arial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64208"/>
            <a:ext cx="5138928" cy="4343400"/>
          </a:xfrm>
          <a:prstGeom prst="rect">
            <a:avLst/>
          </a:prstGeom>
          <a:noFill/>
        </p:spPr>
        <p:txBody>
          <a:bodyPr wrap="square" lIns="0" rIns="54864">
            <a:spAutoFit/>
          </a:bodyPr>
          <a:lstStyle/>
          <a:p>
            <a:pPr>
              <a:spcAft>
                <a:spcPts val="2000"/>
              </a:spcAft>
              <a:defRPr sz="2100" b="1">
                <a:solidFill>
                  <a:srgbClr val="18323B"/>
                </a:solidFill>
                <a:latin typeface="Arial"/>
              </a:defRPr>
            </a:pPr>
            <a:r>
              <a:t>•  Live dashboard counts</a:t>
            </a:r>
          </a:p>
          <a:p>
            <a:pPr>
              <a:spcAft>
                <a:spcPts val="2000"/>
              </a:spcAft>
              <a:defRPr sz="2100" b="0">
                <a:solidFill>
                  <a:srgbClr val="18323B"/>
                </a:solidFill>
                <a:latin typeface="Arial"/>
              </a:defRPr>
            </a:pPr>
            <a:r>
              <a:t>•  Donor, sample, and test search</a:t>
            </a:r>
          </a:p>
          <a:p>
            <a:pPr>
              <a:spcAft>
                <a:spcPts val="2000"/>
              </a:spcAft>
              <a:defRPr sz="2100" b="0">
                <a:solidFill>
                  <a:srgbClr val="18323B"/>
                </a:solidFill>
                <a:latin typeface="Arial"/>
              </a:defRPr>
            </a:pPr>
            <a:r>
              <a:t>•  Create / update / protected delete</a:t>
            </a:r>
          </a:p>
          <a:p>
            <a:pPr>
              <a:spcAft>
                <a:spcPts val="2000"/>
              </a:spcAft>
              <a:defRPr sz="2100" b="0">
                <a:solidFill>
                  <a:srgbClr val="18323B"/>
                </a:solidFill>
                <a:latin typeface="Arial"/>
              </a:defRPr>
            </a:pPr>
            <a:r>
              <a:t>•  PostgreSQL + instant SQLite demo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6208" y="1463040"/>
            <a:ext cx="5413248" cy="4553712"/>
          </a:xfrm>
          <a:prstGeom prst="roundRect">
            <a:avLst/>
          </a:prstGeom>
          <a:solidFill>
            <a:srgbClr val="FFFFFF"/>
          </a:solidFill>
          <a:ln>
            <a:solidFill>
              <a:srgbClr val="C9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ui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2512" y="2299716"/>
            <a:ext cx="512064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BA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93192"/>
            <a:ext cx="1069848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BAE9B"/>
                </a:solidFill>
                <a:latin typeface="Arial"/>
              </a:rPr>
              <a:t>A DETERMINISTIC FIVE-MINUTE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881360" cy="5852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23B4A"/>
                </a:solidFill>
                <a:latin typeface="Arial"/>
              </a:rPr>
              <a:t>Live demonstration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28016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07982"/>
                </a:solidFill>
                <a:latin typeface="Arial"/>
              </a:rPr>
              <a:t>BioVault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10528"/>
            <a:ext cx="50292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607982"/>
                </a:solidFill>
                <a:latin typeface="Arial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64208"/>
            <a:ext cx="5138928" cy="4343400"/>
          </a:xfrm>
          <a:prstGeom prst="rect">
            <a:avLst/>
          </a:prstGeom>
          <a:noFill/>
        </p:spPr>
        <p:txBody>
          <a:bodyPr wrap="square" lIns="0" rIns="54864">
            <a:spAutoFit/>
          </a:bodyPr>
          <a:lstStyle/>
          <a:p>
            <a:pPr>
              <a:spcAft>
                <a:spcPts val="2000"/>
              </a:spcAft>
              <a:defRPr sz="2100" b="1">
                <a:solidFill>
                  <a:srgbClr val="18323B"/>
                </a:solidFill>
                <a:latin typeface="Arial"/>
              </a:defRPr>
            </a:pPr>
            <a:r>
              <a:t>•  Rebuild schema and show counts</a:t>
            </a:r>
          </a:p>
          <a:p>
            <a:pPr>
              <a:spcAft>
                <a:spcPts val="2000"/>
              </a:spcAft>
              <a:defRPr sz="2100" b="0">
                <a:solidFill>
                  <a:srgbClr val="18323B"/>
                </a:solidFill>
                <a:latin typeface="Arial"/>
              </a:defRPr>
            </a:pPr>
            <a:r>
              <a:t>•  Run accepted + rejected usage</a:t>
            </a:r>
          </a:p>
          <a:p>
            <a:pPr>
              <a:spcAft>
                <a:spcPts val="2000"/>
              </a:spcAft>
              <a:defRPr sz="2100" b="0">
                <a:solidFill>
                  <a:srgbClr val="18323B"/>
                </a:solidFill>
                <a:latin typeface="Arial"/>
              </a:defRPr>
            </a:pPr>
            <a:r>
              <a:t>•  Query the views and recursive path</a:t>
            </a:r>
          </a:p>
          <a:p>
            <a:pPr>
              <a:spcAft>
                <a:spcPts val="2000"/>
              </a:spcAft>
              <a:defRPr sz="2100" b="0">
                <a:solidFill>
                  <a:srgbClr val="18323B"/>
                </a:solidFill>
                <a:latin typeface="Arial"/>
              </a:defRPr>
            </a:pPr>
            <a:r>
              <a:t>•  Create, edit, search, delete in UI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1874519"/>
            <a:ext cx="2148840" cy="15727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9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0" y="1874519"/>
            <a:ext cx="91440" cy="1572768"/>
          </a:xfrm>
          <a:prstGeom prst="rect">
            <a:avLst/>
          </a:prstGeom>
          <a:solidFill>
            <a:srgbClr val="2BA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12280" y="2103120"/>
            <a:ext cx="1737360" cy="594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2BAE9B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12280" y="2807208"/>
            <a:ext cx="1737360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607982"/>
                </a:solidFill>
                <a:latin typeface="Arial"/>
              </a:rPr>
              <a:t>setup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34272" y="1874519"/>
            <a:ext cx="2148840" cy="15727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9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034272" y="1874519"/>
            <a:ext cx="91440" cy="1572768"/>
          </a:xfrm>
          <a:prstGeom prst="rect">
            <a:avLst/>
          </a:prstGeom>
          <a:solidFill>
            <a:srgbClr val="428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62872" y="2103120"/>
            <a:ext cx="1737360" cy="594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4285C5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62872" y="2807208"/>
            <a:ext cx="1737360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607982"/>
                </a:solidFill>
                <a:latin typeface="Arial"/>
              </a:rPr>
              <a:t>tests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0" y="3858768"/>
            <a:ext cx="2148840" cy="15727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9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0" y="3858768"/>
            <a:ext cx="91440" cy="1572768"/>
          </a:xfrm>
          <a:prstGeom prst="rect">
            <a:avLst/>
          </a:prstGeom>
          <a:solidFill>
            <a:srgbClr val="8C6B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12280" y="4087368"/>
            <a:ext cx="1737360" cy="594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8C6BC1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12280" y="4791456"/>
            <a:ext cx="1737360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607982"/>
                </a:solidFill>
                <a:latin typeface="Arial"/>
              </a:rPr>
              <a:t>queries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34272" y="3858768"/>
            <a:ext cx="2148840" cy="15727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9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34272" y="3858768"/>
            <a:ext cx="91440" cy="1572768"/>
          </a:xfrm>
          <a:prstGeom prst="rect">
            <a:avLst/>
          </a:prstGeom>
          <a:solidFill>
            <a:srgbClr val="D565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62872" y="4087368"/>
            <a:ext cx="1737360" cy="594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D5656F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62872" y="4791456"/>
            <a:ext cx="1737360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607982"/>
                </a:solidFill>
                <a:latin typeface="Arial"/>
              </a:rPr>
              <a:t>UI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BA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93192"/>
            <a:ext cx="1069848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BAE9B"/>
                </a:solidFill>
                <a:latin typeface="Arial"/>
              </a:rPr>
              <a:t>A REALISTIC BOUNDARY FOR A COURSE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881360" cy="5852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23B4A"/>
                </a:solidFill>
                <a:latin typeface="Arial"/>
              </a:rPr>
              <a:t>Limitations and future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28016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07982"/>
                </a:solidFill>
                <a:latin typeface="Arial"/>
              </a:rPr>
              <a:t>BioVault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10528"/>
            <a:ext cx="50292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607982"/>
                </a:solidFill>
                <a:latin typeface="Arial"/>
              </a:rP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64208"/>
            <a:ext cx="5138928" cy="4343400"/>
          </a:xfrm>
          <a:prstGeom prst="rect">
            <a:avLst/>
          </a:prstGeom>
          <a:noFill/>
        </p:spPr>
        <p:txBody>
          <a:bodyPr wrap="square" lIns="0" rIns="54864">
            <a:spAutoFit/>
          </a:bodyPr>
          <a:lstStyle/>
          <a:p>
            <a:pPr>
              <a:spcAft>
                <a:spcPts val="2000"/>
              </a:spcAft>
              <a:defRPr sz="2100" b="1">
                <a:solidFill>
                  <a:srgbClr val="18323B"/>
                </a:solidFill>
                <a:latin typeface="Arial"/>
              </a:defRPr>
            </a:pPr>
            <a:r>
              <a:t>•  No authentication in local demo</a:t>
            </a:r>
          </a:p>
          <a:p>
            <a:pPr>
              <a:spcAft>
                <a:spcPts val="2000"/>
              </a:spcAft>
              <a:defRPr sz="2100" b="0">
                <a:solidFill>
                  <a:srgbClr val="18323B"/>
                </a:solidFill>
                <a:latin typeface="Arial"/>
              </a:defRPr>
            </a:pPr>
            <a:r>
              <a:t>•  Generic test result fields</a:t>
            </a:r>
          </a:p>
          <a:p>
            <a:pPr>
              <a:spcAft>
                <a:spcPts val="2000"/>
              </a:spcAft>
              <a:defRPr sz="2100" b="0">
                <a:solidFill>
                  <a:srgbClr val="18323B"/>
                </a:solidFill>
                <a:latin typeface="Arial"/>
              </a:defRPr>
            </a:pPr>
            <a:r>
              <a:t>•  No unit-conversion catalog</a:t>
            </a:r>
          </a:p>
          <a:p>
            <a:pPr>
              <a:spcAft>
                <a:spcPts val="2000"/>
              </a:spcAft>
              <a:defRPr sz="2100" b="0">
                <a:solidFill>
                  <a:srgbClr val="18323B"/>
                </a:solidFill>
                <a:latin typeface="Arial"/>
              </a:defRPr>
            </a:pPr>
            <a:r>
              <a:t>•  Future: roles, barcodes, sensors, chain of custody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1874519"/>
            <a:ext cx="2148840" cy="15727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9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0" y="1874519"/>
            <a:ext cx="91440" cy="1572768"/>
          </a:xfrm>
          <a:prstGeom prst="rect">
            <a:avLst/>
          </a:prstGeom>
          <a:solidFill>
            <a:srgbClr val="2BA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12280" y="2103120"/>
            <a:ext cx="1737360" cy="594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2BAE9B"/>
                </a:solidFill>
                <a:latin typeface="Arial"/>
              </a:rPr>
              <a:t>RBAC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12280" y="2807208"/>
            <a:ext cx="1737360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607982"/>
                </a:solidFill>
                <a:latin typeface="Arial"/>
              </a:rPr>
              <a:t>security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34272" y="1874519"/>
            <a:ext cx="2148840" cy="15727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9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034272" y="1874519"/>
            <a:ext cx="91440" cy="1572768"/>
          </a:xfrm>
          <a:prstGeom prst="rect">
            <a:avLst/>
          </a:prstGeom>
          <a:solidFill>
            <a:srgbClr val="428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62872" y="2103120"/>
            <a:ext cx="1737360" cy="594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4285C5"/>
                </a:solidFill>
                <a:latin typeface="Arial"/>
              </a:rPr>
              <a:t>BAR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62872" y="2807208"/>
            <a:ext cx="1737360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607982"/>
                </a:solidFill>
                <a:latin typeface="Arial"/>
              </a:rPr>
              <a:t>barcodes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0" y="3858768"/>
            <a:ext cx="2148840" cy="15727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9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0" y="3858768"/>
            <a:ext cx="91440" cy="1572768"/>
          </a:xfrm>
          <a:prstGeom prst="rect">
            <a:avLst/>
          </a:prstGeom>
          <a:solidFill>
            <a:srgbClr val="8C6B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12280" y="4087368"/>
            <a:ext cx="1737360" cy="594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8C6BC1"/>
                </a:solidFill>
                <a:latin typeface="Arial"/>
              </a:rPr>
              <a:t>IoT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12280" y="4791456"/>
            <a:ext cx="1737360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607982"/>
                </a:solidFill>
                <a:latin typeface="Arial"/>
              </a:rPr>
              <a:t>sensors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34272" y="3858768"/>
            <a:ext cx="2148840" cy="15727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9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34272" y="3858768"/>
            <a:ext cx="91440" cy="1572768"/>
          </a:xfrm>
          <a:prstGeom prst="rect">
            <a:avLst/>
          </a:prstGeom>
          <a:solidFill>
            <a:srgbClr val="D565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62872" y="4087368"/>
            <a:ext cx="1737360" cy="594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D5656F"/>
                </a:solidFill>
                <a:latin typeface="Arial"/>
              </a:rPr>
              <a:t>CoC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62872" y="4791456"/>
            <a:ext cx="1737360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607982"/>
                </a:solidFill>
                <a:latin typeface="Arial"/>
              </a:rPr>
              <a:t>custody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BA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93192"/>
            <a:ext cx="1069848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BAE9B"/>
                </a:solidFill>
                <a:latin typeface="Arial"/>
              </a:rPr>
              <a:t>COMPLETE LIFECYCLE • VERIFIED INTEGRITY • WORKING BONUS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881360" cy="5852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23B4A"/>
                </a:solidFill>
                <a:latin typeface="Arial"/>
              </a:rPr>
              <a:t>Conclusion &amp;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28016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07982"/>
                </a:solidFill>
                <a:latin typeface="Arial"/>
              </a:rPr>
              <a:t>BioVault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10528"/>
            <a:ext cx="50292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607982"/>
                </a:solidFill>
                <a:latin typeface="Arial"/>
              </a:rPr>
              <a:t>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64208"/>
            <a:ext cx="5138928" cy="4343400"/>
          </a:xfrm>
          <a:prstGeom prst="rect">
            <a:avLst/>
          </a:prstGeom>
          <a:noFill/>
        </p:spPr>
        <p:txBody>
          <a:bodyPr wrap="square" lIns="0" rIns="54864">
            <a:spAutoFit/>
          </a:bodyPr>
          <a:lstStyle/>
          <a:p>
            <a:pPr>
              <a:spcAft>
                <a:spcPts val="2000"/>
              </a:spcAft>
              <a:defRPr sz="2100" b="1">
                <a:solidFill>
                  <a:srgbClr val="18323B"/>
                </a:solidFill>
                <a:latin typeface="Arial"/>
              </a:defRPr>
            </a:pPr>
            <a:r>
              <a:t>•  Requirements → ERD → 3NF → PostgreSQL</a:t>
            </a:r>
          </a:p>
          <a:p>
            <a:pPr>
              <a:spcAft>
                <a:spcPts val="2000"/>
              </a:spcAft>
              <a:defRPr sz="2100" b="0">
                <a:solidFill>
                  <a:srgbClr val="18323B"/>
                </a:solidFill>
                <a:latin typeface="Arial"/>
              </a:defRPr>
            </a:pPr>
            <a:r>
              <a:t>•  Data → queries → trigger → tests</a:t>
            </a:r>
          </a:p>
          <a:p>
            <a:pPr>
              <a:spcAft>
                <a:spcPts val="2000"/>
              </a:spcAft>
              <a:defRPr sz="2100" b="0">
                <a:solidFill>
                  <a:srgbClr val="18323B"/>
                </a:solidFill>
                <a:latin typeface="Arial"/>
              </a:defRPr>
            </a:pPr>
            <a:r>
              <a:t>•  Report → presentation → defense materials</a:t>
            </a:r>
          </a:p>
          <a:p>
            <a:pPr>
              <a:spcAft>
                <a:spcPts val="2000"/>
              </a:spcAft>
              <a:defRPr sz="2100" b="0">
                <a:solidFill>
                  <a:srgbClr val="18323B"/>
                </a:solidFill>
                <a:latin typeface="Arial"/>
              </a:defRPr>
            </a:pPr>
            <a:r>
              <a:t>•  Connected CRUD application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1874519"/>
            <a:ext cx="2148840" cy="15727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9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0" y="1874519"/>
            <a:ext cx="91440" cy="1572768"/>
          </a:xfrm>
          <a:prstGeom prst="rect">
            <a:avLst/>
          </a:prstGeom>
          <a:solidFill>
            <a:srgbClr val="2BA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12280" y="2103120"/>
            <a:ext cx="1737360" cy="594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2BAE9B"/>
                </a:solidFill>
                <a:latin typeface="Arial"/>
              </a:rPr>
              <a:t>ERD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12280" y="2807208"/>
            <a:ext cx="1737360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607982"/>
                </a:solidFill>
                <a:latin typeface="Arial"/>
              </a:rPr>
              <a:t>designed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34272" y="1874519"/>
            <a:ext cx="2148840" cy="15727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9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034272" y="1874519"/>
            <a:ext cx="91440" cy="1572768"/>
          </a:xfrm>
          <a:prstGeom prst="rect">
            <a:avLst/>
          </a:prstGeom>
          <a:solidFill>
            <a:srgbClr val="428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62872" y="2103120"/>
            <a:ext cx="1737360" cy="594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4285C5"/>
                </a:solidFill>
                <a:latin typeface="Arial"/>
              </a:rPr>
              <a:t>3NF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62872" y="2807208"/>
            <a:ext cx="1737360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607982"/>
                </a:solidFill>
                <a:latin typeface="Arial"/>
              </a:rPr>
              <a:t>mapped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0" y="3858768"/>
            <a:ext cx="2148840" cy="15727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9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0" y="3858768"/>
            <a:ext cx="91440" cy="1572768"/>
          </a:xfrm>
          <a:prstGeom prst="rect">
            <a:avLst/>
          </a:prstGeom>
          <a:solidFill>
            <a:srgbClr val="8C6B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12280" y="4087368"/>
            <a:ext cx="1737360" cy="594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8C6BC1"/>
                </a:solidFill>
                <a:latin typeface="Arial"/>
              </a:rPr>
              <a:t>SQL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12280" y="4791456"/>
            <a:ext cx="1737360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607982"/>
                </a:solidFill>
                <a:latin typeface="Arial"/>
              </a:rPr>
              <a:t>verified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34272" y="3858768"/>
            <a:ext cx="2148840" cy="15727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9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34272" y="3858768"/>
            <a:ext cx="91440" cy="1572768"/>
          </a:xfrm>
          <a:prstGeom prst="rect">
            <a:avLst/>
          </a:prstGeom>
          <a:solidFill>
            <a:srgbClr val="D565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62872" y="4087368"/>
            <a:ext cx="1737360" cy="594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D5656F"/>
                </a:solidFill>
                <a:latin typeface="Arial"/>
              </a:rPr>
              <a:t>UI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62872" y="4791456"/>
            <a:ext cx="1737360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607982"/>
                </a:solidFill>
                <a:latin typeface="Arial"/>
              </a:rPr>
              <a:t>working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